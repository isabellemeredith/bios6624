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2" d="100"/>
          <a:sy n="102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6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4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6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3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6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6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0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9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7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5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0399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3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95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1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51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9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B864-BB1F-A748-AB18-E7AFF5AA53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BCFC3B-DB91-3D49-88E9-741385CDB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0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609C-2D57-1AD5-ACB3-16F6A6EE5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8A786-0298-B34B-D8F7-E2156BB15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Isabelle Meredith</a:t>
            </a:r>
          </a:p>
        </p:txBody>
      </p:sp>
    </p:spTree>
    <p:extLst>
      <p:ext uri="{BB962C8B-B14F-4D97-AF65-F5344CB8AC3E}">
        <p14:creationId xmlns:p14="http://schemas.microsoft.com/office/powerpoint/2010/main" val="178439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ACE-55BF-F3E1-97CA-E515DD29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39FBC-A7C1-D260-04BD-FE7A542D9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Are the subject’s recordings of sampling times biased compared to the times recorded by an electronic monitoring cap?</a:t>
            </a:r>
          </a:p>
          <a:p>
            <a:r>
              <a:rPr lang="en-US" sz="2800" dirty="0"/>
              <a:t>What proportion of subjects were within 7.5 or 15 minutes of the required sampling times?</a:t>
            </a:r>
          </a:p>
          <a:p>
            <a:r>
              <a:rPr lang="en-US" sz="2800" dirty="0"/>
              <a:t>How do cortisol and DHEA levels change over time?</a:t>
            </a:r>
          </a:p>
        </p:txBody>
      </p:sp>
    </p:spTree>
    <p:extLst>
      <p:ext uri="{BB962C8B-B14F-4D97-AF65-F5344CB8AC3E}">
        <p14:creationId xmlns:p14="http://schemas.microsoft.com/office/powerpoint/2010/main" val="3567312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E661-3180-CCB6-98EC-728B28EEC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8EB573-182F-18F5-C779-FAE347834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960971"/>
              </p:ext>
            </p:extLst>
          </p:nvPr>
        </p:nvGraphicFramePr>
        <p:xfrm>
          <a:off x="838200" y="1690688"/>
          <a:ext cx="10515600" cy="4706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82762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82065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793485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279344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31163342"/>
                    </a:ext>
                  </a:extLst>
                </a:gridCol>
              </a:tblGrid>
              <a:tr h="812065">
                <a:tc>
                  <a:txBody>
                    <a:bodyPr/>
                    <a:lstStyle/>
                    <a:p>
                      <a:pPr rtl="0" fontAlgn="b"/>
                      <a:r>
                        <a:rPr lang="en-US" sz="2400">
                          <a:effectLst/>
                        </a:rPr>
                        <a:t>-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Source Sans Pro" panose="020B0503030403020204" pitchFamily="34" charset="0"/>
                        </a:rPr>
                        <a:t>Overall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>
                          <a:effectLst/>
                          <a:latin typeface="Source Sans Pro" panose="020B0503030403020204" pitchFamily="34" charset="0"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>
                          <a:effectLst/>
                          <a:latin typeface="Source Sans Pro" panose="020B0503030403020204" pitchFamily="34" charset="0"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>
                          <a:effectLst/>
                          <a:latin typeface="Source Sans Pro" panose="020B0503030403020204" pitchFamily="34" charset="0"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163777954"/>
                  </a:ext>
                </a:extLst>
              </a:tr>
              <a:tr h="812065">
                <a:tc>
                  <a:txBody>
                    <a:bodyPr/>
                    <a:lstStyle/>
                    <a:p>
                      <a:pPr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n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372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93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93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93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818154578"/>
                  </a:ext>
                </a:extLst>
              </a:tr>
              <a:tr h="817627">
                <a:tc>
                  <a:txBody>
                    <a:bodyPr/>
                    <a:lstStyle/>
                    <a:p>
                      <a:pPr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Time Difference (minutes) (mean (SD))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-7.71 (32.09)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-4.00 (8.75)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-16.05 (35.87)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-6.18 (42.66)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479379567"/>
                  </a:ext>
                </a:extLst>
              </a:tr>
              <a:tr h="812065">
                <a:tc>
                  <a:txBody>
                    <a:bodyPr/>
                    <a:lstStyle/>
                    <a:p>
                      <a:pPr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Cortisol (nmol/L) (mean (SD))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5.95 (6.95)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7.38 (6.05)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9.00 (4.94)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3.21 (2.29)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909025490"/>
                  </a:ext>
                </a:extLst>
              </a:tr>
              <a:tr h="812065">
                <a:tc>
                  <a:txBody>
                    <a:bodyPr/>
                    <a:lstStyle/>
                    <a:p>
                      <a:pPr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DHEA (nmol/L) (mean (SD))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0.98 (1.03)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 dirty="0">
                          <a:effectLst/>
                          <a:latin typeface="Source Sans Pro" panose="020B0503030403020204" pitchFamily="34" charset="0"/>
                        </a:rPr>
                        <a:t>1.78 (1.27)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>
                          <a:effectLst/>
                          <a:latin typeface="Source Sans Pro" panose="020B0503030403020204" pitchFamily="34" charset="0"/>
                        </a:rPr>
                        <a:t>1.11 (0.92)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400" b="0" dirty="0">
                          <a:effectLst/>
                          <a:latin typeface="Source Sans Pro" panose="020B0503030403020204" pitchFamily="34" charset="0"/>
                        </a:rPr>
                        <a:t>0.51 (0.46)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85986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66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4EE2-D735-846D-56F0-744C2FF8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3EDD0-B416-5C00-0D72-01219543A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6917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dirty="0"/>
              <a:t>Linear mixed effects model with booklet time as a predictor for cap time, with subject ID as a random effect</a:t>
            </a:r>
          </a:p>
          <a:p>
            <a:pPr lvl="1"/>
            <a:r>
              <a:rPr lang="en-US" sz="2400" dirty="0"/>
              <a:t>Test if intercept = 0</a:t>
            </a:r>
          </a:p>
          <a:p>
            <a:pPr lvl="1"/>
            <a:r>
              <a:rPr lang="en-US" sz="2400" dirty="0"/>
              <a:t>Test if slope = 1</a:t>
            </a:r>
          </a:p>
          <a:p>
            <a:r>
              <a:rPr lang="en-US" sz="2400" dirty="0"/>
              <a:t>Quantify the proportion of subjects who were within 7.5 and 15 minutes of the desired sample intervals</a:t>
            </a:r>
          </a:p>
          <a:p>
            <a:r>
              <a:rPr lang="en-US" sz="2400" dirty="0"/>
              <a:t>Piecewise linear mixed effects model for cortisol and DHEA. Effect of amount of time since the subject woke up on cortisol/DHEA level, with subject ID as a random effect</a:t>
            </a:r>
          </a:p>
        </p:txBody>
      </p:sp>
    </p:spTree>
    <p:extLst>
      <p:ext uri="{BB962C8B-B14F-4D97-AF65-F5344CB8AC3E}">
        <p14:creationId xmlns:p14="http://schemas.microsoft.com/office/powerpoint/2010/main" val="197443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96E6-080E-57AF-C49C-2896BA6A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 descr="A graph with black dots&#10;&#10;Description automatically generated">
            <a:extLst>
              <a:ext uri="{FF2B5EF4-FFF2-40B4-BE49-F238E27FC236}">
                <a16:creationId xmlns:a16="http://schemas.microsoft.com/office/drawing/2014/main" id="{0C55F2DF-313E-460B-839F-985892C70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748" y="1690688"/>
            <a:ext cx="7053747" cy="4351338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D6BC8D-A386-3DF3-5D6A-F70A326D7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628709"/>
              </p:ext>
            </p:extLst>
          </p:nvPr>
        </p:nvGraphicFramePr>
        <p:xfrm>
          <a:off x="8058908" y="2697158"/>
          <a:ext cx="3430344" cy="2305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448">
                  <a:extLst>
                    <a:ext uri="{9D8B030D-6E8A-4147-A177-3AD203B41FA5}">
                      <a16:colId xmlns:a16="http://schemas.microsoft.com/office/drawing/2014/main" val="3347527180"/>
                    </a:ext>
                  </a:extLst>
                </a:gridCol>
                <a:gridCol w="1143448">
                  <a:extLst>
                    <a:ext uri="{9D8B030D-6E8A-4147-A177-3AD203B41FA5}">
                      <a16:colId xmlns:a16="http://schemas.microsoft.com/office/drawing/2014/main" val="321503847"/>
                    </a:ext>
                  </a:extLst>
                </a:gridCol>
                <a:gridCol w="1143448">
                  <a:extLst>
                    <a:ext uri="{9D8B030D-6E8A-4147-A177-3AD203B41FA5}">
                      <a16:colId xmlns:a16="http://schemas.microsoft.com/office/drawing/2014/main" val="2340228262"/>
                    </a:ext>
                  </a:extLst>
                </a:gridCol>
              </a:tblGrid>
              <a:tr h="502453">
                <a:tc>
                  <a:txBody>
                    <a:bodyPr/>
                    <a:lstStyle/>
                    <a:p>
                      <a:pPr algn="l"/>
                      <a:endParaRPr lang="en-US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Booklet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305532"/>
                  </a:ext>
                </a:extLst>
              </a:tr>
              <a:tr h="888913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Within 15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286766"/>
                  </a:ext>
                </a:extLst>
              </a:tr>
              <a:tr h="888913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Within 7.5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effectLst/>
                          <a:latin typeface="Arial" panose="020B0604020202020204" pitchFamily="34" charset="0"/>
                        </a:rPr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434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62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9ABA2-BB64-1269-D8E8-E0D34C647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4F1D-8E88-C50E-FB68-F351E513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15" name="Content Placeholder 14" descr="A graph with a line and dots&#10;&#10;Description automatically generated">
            <a:extLst>
              <a:ext uri="{FF2B5EF4-FFF2-40B4-BE49-F238E27FC236}">
                <a16:creationId xmlns:a16="http://schemas.microsoft.com/office/drawing/2014/main" id="{0BFA9E0A-3AC0-EA4F-87BC-0B1B63CFE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10" y="2054268"/>
            <a:ext cx="5773986" cy="3561875"/>
          </a:xfrm>
        </p:spPr>
      </p:pic>
      <p:pic>
        <p:nvPicPr>
          <p:cNvPr id="7" name="Picture 6" descr="A graph with a line and numbers&#10;&#10;Description automatically generated with medium confidence">
            <a:extLst>
              <a:ext uri="{FF2B5EF4-FFF2-40B4-BE49-F238E27FC236}">
                <a16:creationId xmlns:a16="http://schemas.microsoft.com/office/drawing/2014/main" id="{F5A9448A-ECAB-72D5-5B39-22C079725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4268"/>
            <a:ext cx="5773986" cy="356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3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9AFE-24DB-53F5-D574-F7E6591C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B9CB-82AD-FF99-0A07-12B56238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Agreement between booklet and cap was generally good</a:t>
            </a:r>
          </a:p>
          <a:p>
            <a:r>
              <a:rPr lang="en-US" sz="2800" dirty="0"/>
              <a:t>Subjects were not always adhering well to the intended times</a:t>
            </a:r>
          </a:p>
          <a:p>
            <a:r>
              <a:rPr lang="en-US" sz="2800" dirty="0"/>
              <a:t>Patterns in cortisol and DHEA levels were consistent with past research</a:t>
            </a:r>
          </a:p>
        </p:txBody>
      </p:sp>
    </p:spTree>
    <p:extLst>
      <p:ext uri="{BB962C8B-B14F-4D97-AF65-F5344CB8AC3E}">
        <p14:creationId xmlns:p14="http://schemas.microsoft.com/office/powerpoint/2010/main" val="27610739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5484</TotalTime>
  <Words>273</Words>
  <Application>Microsoft Macintosh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Source Sans Pro</vt:lpstr>
      <vt:lpstr>Trebuchet MS</vt:lpstr>
      <vt:lpstr>Wingdings 3</vt:lpstr>
      <vt:lpstr>Facet</vt:lpstr>
      <vt:lpstr>Project 0</vt:lpstr>
      <vt:lpstr>Research Questions</vt:lpstr>
      <vt:lpstr>Data Overview</vt:lpstr>
      <vt:lpstr>Analysis</vt:lpstr>
      <vt:lpstr>Results</vt:lpstr>
      <vt:lpstr>Results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Meredith, Isabelle</dc:creator>
  <cp:lastModifiedBy>Meredith, Isabelle</cp:lastModifiedBy>
  <cp:revision>3</cp:revision>
  <dcterms:created xsi:type="dcterms:W3CDTF">2026-02-01T00:07:58Z</dcterms:created>
  <dcterms:modified xsi:type="dcterms:W3CDTF">2026-02-04T19:32:51Z</dcterms:modified>
</cp:coreProperties>
</file>